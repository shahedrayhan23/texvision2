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Calibri"/>
              </a:defRPr>
            </a:pPr>
            <a:r>
              <a:t>●  NITER INNOVATE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Calibri"/>
              </a:defRPr>
            </a:pPr>
            <a:r>
              <a:t>TexVision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888AA"/>
                </a:solidFill>
                <a:latin typeface="Calibri"/>
              </a:defRPr>
            </a:pPr>
            <a:r>
              <a:t>AI-Powered Fabric Defect Detection</a:t>
            </a:r>
            <a:br/>
            <a:r>
              <a:t>&amp; Production Intelligence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577"/>
                </a:solidFill>
                <a:latin typeface="Calibri"/>
              </a:defRPr>
            </a:pPr>
            <a:r>
              <a:t>for the textile &amp; RMG industry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MD. Shahed Rayhan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5303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577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North International University (NITER)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STUDENT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5577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CS 2304023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5577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914400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Manual Inspection is Broken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Calibri"/>
              </a:defRPr>
            </a:pPr>
            <a:r>
              <a:t>Bangladesh's $40B+ RMG industry relies on manual fabric inspection — slow, inconsistent, and error-prone.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3291840" cy="256032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🐌  Too Slow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Inspectors spend 5–10 minutes per fabric piece, creating bottlenecks in production.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3344"/>
                </a:solidFill>
                <a:latin typeface="Calibri"/>
              </a:defRPr>
            </a:pPr>
            <a:r>
              <a:t>5-10m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926080"/>
            <a:ext cx="3291840" cy="256032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🎯  Too Inaccurate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5661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Fatigue and human error lead to only 70–80% detection rates, missing critical defects.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3344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926080"/>
            <a:ext cx="3291840" cy="256032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💸  Too Expensive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5661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Each inspection costs $0.50–$1.00, totaling billions in annual losses for the industry.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3344"/>
                </a:solidFill>
                <a:latin typeface="Calibri"/>
              </a:defRPr>
            </a:pPr>
            <a:r>
              <a:t>$2-3B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FF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914400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AI Meets the Factory Floor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515600" cy="91440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66FF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Mobile-First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43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Inspectors capture fabric images directly from smartphones — no special equipment needed.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37560"/>
            <a:ext cx="10515600" cy="91440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29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D4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3832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YOLOv8 + OpenCV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794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Dual-mode AI: deep learning for production, classical CV for instant demos. Works offline.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10515600" cy="91440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4805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FF88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434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Complete Inspection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Capture → Analyze → Submit → Manager Review → Approve/Reject → Reinspect.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440679"/>
            <a:ext cx="10515600" cy="91440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5321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3344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48639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Real-Time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89787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Managers get live defect statistics, trends, quality grades, and audit trails.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760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Calibri"/>
              </a:defRPr>
            </a:pPr>
            <a:r>
              <a:t>3s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Detection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5760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Calibri"/>
              </a:defRPr>
            </a:pPr>
            <a:r>
              <a:t>95%+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5760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Defect Types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FF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914400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Built for the Factory Floor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383280" cy="192024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66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Real-Time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Calibri"/>
              </a:defRPr>
            </a:pPr>
            <a:r>
              <a:t>AI analyzes fabric images in 1–3 seconds, providing instant defect identification with bounding boxes.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286000"/>
            <a:ext cx="3383280" cy="192024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4FF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Mobile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918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Calibri"/>
              </a:defRPr>
            </a:pPr>
            <a:r>
              <a:t>Cross-platform React Native app works on Android &amp; iOS. Capture, analyze, and report from anywhere.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286000"/>
            <a:ext cx="3383280" cy="192024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3344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926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Severity 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2918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Calibri"/>
              </a:defRPr>
            </a:pPr>
            <a:r>
              <a:t>Automatically grades defects as Critical, High, Medium, or Low with confidence scores.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80560"/>
            <a:ext cx="3383280" cy="192024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663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FF88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120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Quality Grading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4864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Calibri"/>
              </a:defRPr>
            </a:pPr>
            <a:r>
              <a:t>Assigns A–D quality grades based on defect analysis, helping managers make quick decisions.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480560"/>
            <a:ext cx="3383280" cy="192024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4663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AA00"/>
                </a:solidFill>
                <a:latin typeface="Calibri"/>
              </a:defRPr>
            </a:pPr>
            <a:r>
              <a:t>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120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Inspection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54864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Calibri"/>
              </a:defRPr>
            </a:pPr>
            <a:r>
              <a:t>Complete audit trail of all inspections, decisions, and rework — searchable and exportable.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480560"/>
            <a:ext cx="3383280" cy="192024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4663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64FF"/>
                </a:solidFill>
                <a:latin typeface="Calibri"/>
              </a:defRPr>
            </a:pPr>
            <a:r>
              <a:t>☁️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120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Local + Cloud Storage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4864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Calibri"/>
              </a:defRPr>
            </a:pPr>
            <a:r>
              <a:t>Works offline with local JSON DB. Seamless upgrade to Firebase for production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FF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914400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Powered by Modern Tech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011680" cy="201168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D4FF"/>
                </a:solidFill>
                <a:latin typeface="Calibri"/>
              </a:defRPr>
            </a:pPr>
            <a:r>
              <a:t>⚛️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React Native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Cross-platform mobile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286000"/>
            <a:ext cx="2011680" cy="201168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2468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66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Async Python backend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2286000"/>
            <a:ext cx="2011680" cy="201168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468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FF88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YOLOv8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Object detection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2286000"/>
            <a:ext cx="2011680" cy="201168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2468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AA00"/>
                </a:solidFill>
                <a:latin typeface="Calibri"/>
              </a:defRPr>
            </a:pPr>
            <a:r>
              <a:t>👁️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OpenCV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Computer vision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0" y="2286000"/>
            <a:ext cx="2011680" cy="201168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2468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3344"/>
                </a:solidFill>
                <a:latin typeface="Calibri"/>
              </a:defRPr>
            </a:pPr>
            <a:r>
              <a:t>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JWT Auth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Secure tokens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77"/>
                </a:solidFill>
                <a:latin typeface="Calibri"/>
              </a:defRPr>
            </a:pPr>
            <a:r>
              <a:t>Also uses:  Expo SDK  ·  Pydantic  ·  NumPy  ·  Firebase  ·  Docker  ·  bcrypt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914400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Four Steps to Quality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2286000"/>
            <a:ext cx="731520" cy="73152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66FF"/>
                </a:solidFill>
                <a:latin typeface="Calibri"/>
              </a:defRPr>
            </a:pPr>
            <a:r>
              <a:t>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Capture 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  <a:latin typeface="Calibri"/>
              </a:defRPr>
            </a:pPr>
            <a:r>
              <a:t>Inspector takes a photo of the fabric using the mobile app camera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5555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4114800" y="2286000"/>
            <a:ext cx="731520" cy="7315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D4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7490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AI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42062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  <a:latin typeface="Calibri"/>
              </a:defRPr>
            </a:pPr>
            <a:r>
              <a:t>YOLOv8 &amp; OpenCV analyze the image for defects in real-time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5555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7040880" y="2286000"/>
            <a:ext cx="731520" cy="731520"/>
          </a:xfrm>
          <a:prstGeom prst="ellipse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3344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7490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Classify Defects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2062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  <a:latin typeface="Calibri"/>
              </a:defRPr>
            </a:pPr>
            <a:r>
              <a:t>System identifies type, location, severity, and confidence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5555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9966960" y="2286000"/>
            <a:ext cx="731520" cy="73152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FF88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7490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Quality Verdict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42062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  <a:latin typeface="Calibri"/>
              </a:defRPr>
            </a:pPr>
            <a:r>
              <a:t>Manager reviews results and approves, rejects, or requests rework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914400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Built for Scalability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2560320" cy="228600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066FF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Mobile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React Native + Expo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4FF"/>
                </a:solidFill>
                <a:latin typeface="Calibri"/>
              </a:defRPr>
            </a:pPr>
            <a:r>
              <a:t>Camera  ·  Gallery  · 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926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5555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103120"/>
            <a:ext cx="2560320" cy="228600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2286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0D4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834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FastAPI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REST API + JWT 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657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4FF"/>
                </a:solidFill>
                <a:latin typeface="Calibri"/>
              </a:defRPr>
            </a:pPr>
            <a:r>
              <a:t>Auth  ·  Upload  · 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926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5555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103120"/>
            <a:ext cx="2560320" cy="228600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286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0FF88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834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AI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YOLOv8 + OpenCV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657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4FF"/>
                </a:solidFill>
                <a:latin typeface="Calibri"/>
              </a:defRPr>
            </a:pPr>
            <a:r>
              <a:t>Detect  ·  Classify  ·  Grade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926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5555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2103120"/>
            <a:ext cx="2560320" cy="228600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2286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3344"/>
                </a:solidFill>
                <a:latin typeface="Calibri"/>
              </a:defRPr>
            </a:pPr>
            <a:r>
              <a:t>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834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Data Storage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Local JSON / Firebase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657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4FF"/>
                </a:solidFill>
                <a:latin typeface="Calibri"/>
              </a:defRPr>
            </a:pPr>
            <a:r>
              <a:t>Users  ·  Inspections  ·  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754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77"/>
                </a:solidFill>
                <a:latin typeface="Calibri"/>
              </a:defRPr>
            </a:pPr>
            <a:r>
              <a:t>Request Flow:  Mobile  →  API  →  AI  →  Database  → 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303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FF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257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JWT Authentication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577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Secure token-based access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5303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FF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257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Async Processing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5577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Non-blocking requests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5303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FF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5257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Docker Ready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5577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Containerized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914400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See It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2560320" cy="256032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FF"/>
                </a:solidFill>
                <a:latin typeface="Calibri"/>
              </a:defRPr>
            </a:pPr>
            <a:r>
              <a:t>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  <a:latin typeface="Calibri"/>
              </a:defRPr>
            </a:pPr>
            <a:r>
              <a:t>📧 inspector@niter.edu.bd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  <a:latin typeface="Calibri"/>
              </a:defRPr>
            </a:pPr>
            <a:r>
              <a:t>🔒 ••••••••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  <a:latin typeface="Calibri"/>
              </a:defRPr>
            </a:pPr>
            <a:r>
              <a:t>Sign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560320"/>
            <a:ext cx="2560320" cy="256032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FF"/>
                </a:solidFill>
                <a:latin typeface="Calibri"/>
              </a:defRPr>
            </a:pPr>
            <a:r>
              <a:t>Capture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  <a:latin typeface="Calibri"/>
              </a:defRPr>
            </a:pPr>
            <a:r>
              <a:t>┌─────────────────┐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3832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  <a:latin typeface="Calibri"/>
              </a:defRPr>
            </a:pPr>
            <a:r>
              <a:t>│   📷 Camera     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7490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  <a:latin typeface="Calibri"/>
              </a:defRPr>
            </a:pPr>
            <a:r>
              <a:t>│   Viewfinder    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  <a:latin typeface="Calibri"/>
              </a:defRPr>
            </a:pPr>
            <a:r>
              <a:t>└─────────────────┘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5303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Capture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560320"/>
            <a:ext cx="2560320" cy="256032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FF"/>
                </a:solidFill>
                <a:latin typeface="Calibri"/>
              </a:defRPr>
            </a:pPr>
            <a:r>
              <a:t>Analyzing...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  <a:latin typeface="Calibri"/>
              </a:defRPr>
            </a:pPr>
            <a:r>
              <a:t>🔍 Detecting...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3832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  <a:latin typeface="Calibri"/>
              </a:defRPr>
            </a:pPr>
            <a:r>
              <a:t>████████░░ 80%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  <a:latin typeface="Calibri"/>
              </a:defRPr>
            </a:pPr>
            <a:r>
              <a:t>3 defects found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303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Analyzing...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35440" y="2560320"/>
            <a:ext cx="2560320" cy="256032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FF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  <a:latin typeface="Calibri"/>
              </a:defRPr>
            </a:pPr>
            <a:r>
              <a:t>🔴 Hole — 94%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33832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  <a:latin typeface="Calibri"/>
              </a:defRPr>
            </a:pPr>
            <a:r>
              <a:t>🟠 Stain — 87%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37490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  <a:latin typeface="Calibri"/>
              </a:defRPr>
            </a:pPr>
            <a:r>
              <a:t>🟡 Color — 72%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  <a:latin typeface="Calibri"/>
              </a:defRPr>
            </a:pPr>
            <a:r>
              <a:t>Grade: 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5303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Results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FF"/>
                </a:solidFill>
                <a:latin typeface="Calibri"/>
              </a:defRPr>
            </a:pPr>
            <a:r>
              <a:t>IMPACT &amp;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914400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Measurable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560320" cy="164592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FF"/>
                </a:solidFill>
                <a:latin typeface="Calibri"/>
              </a:defRPr>
            </a:pPr>
            <a:r>
              <a:t>200x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Faster Inspection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3 seconds vs 5-10 minutes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103120"/>
            <a:ext cx="2560320" cy="164592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286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FF88"/>
                </a:solidFill>
                <a:latin typeface="Calibri"/>
              </a:defRPr>
            </a:pPr>
            <a:r>
              <a:t>95%+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834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Detection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Up from 70-80% manual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103120"/>
            <a:ext cx="2560320" cy="164592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286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6FF"/>
                </a:solidFill>
                <a:latin typeface="Calibri"/>
              </a:defRPr>
            </a:pPr>
            <a:r>
              <a:t>98%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34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Cost Reduction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$0.01 vs $0.50-1.00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103120"/>
            <a:ext cx="2560320" cy="164592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286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3344"/>
                </a:solidFill>
                <a:latin typeface="Calibri"/>
              </a:defRPr>
            </a:pPr>
            <a:r>
              <a:t>$2-3B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834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Potential Savings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Annual for Bangladesh RMG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371600" y="4114800"/>
          <a:ext cx="9144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1E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Before (Manual)</a:t>
                      </a:r>
                    </a:p>
                  </a:txBody>
                  <a:tcPr>
                    <a:solidFill>
                      <a:srgbClr val="001E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With TexVision</a:t>
                      </a:r>
                    </a:p>
                  </a:txBody>
                  <a:tcPr>
                    <a:solidFill>
                      <a:srgbClr val="001E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8888AA"/>
                          </a:solidFill>
                          <a:latin typeface="Calibri"/>
                        </a:defRPr>
                      </a:pPr>
                      <a:r>
                        <a:t>Inspection Time</a:t>
                      </a:r>
                    </a:p>
                  </a:txBody>
                  <a:tcPr>
                    <a:solidFill>
                      <a:srgbClr val="1A1A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8888AA"/>
                          </a:solidFill>
                          <a:latin typeface="Calibri"/>
                        </a:defRPr>
                      </a:pPr>
                      <a:r>
                        <a:t>5–10 minutes / piece</a:t>
                      </a:r>
                    </a:p>
                  </a:txBody>
                  <a:tcPr>
                    <a:solidFill>
                      <a:srgbClr val="1A1A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FF88"/>
                          </a:solidFill>
                          <a:latin typeface="Calibri"/>
                        </a:defRPr>
                      </a:pPr>
                      <a:r>
                        <a:t>2–3 seconds / piece</a:t>
                      </a:r>
                    </a:p>
                  </a:txBody>
                  <a:tcPr>
                    <a:solidFill>
                      <a:srgbClr val="1A1A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8888AA"/>
                          </a:solidFill>
                          <a:latin typeface="Calibri"/>
                        </a:defRPr>
                      </a:pPr>
                      <a:r>
                        <a:t>Detection Rate</a:t>
                      </a:r>
                    </a:p>
                  </a:txBody>
                  <a:tcPr>
                    <a:solidFill>
                      <a:srgbClr val="1A1A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8888AA"/>
                          </a:solidFill>
                          <a:latin typeface="Calibri"/>
                        </a:defRPr>
                      </a:pPr>
                      <a:r>
                        <a:t>70–80%</a:t>
                      </a:r>
                    </a:p>
                  </a:txBody>
                  <a:tcPr>
                    <a:solidFill>
                      <a:srgbClr val="1A1A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FF88"/>
                          </a:solidFill>
                          <a:latin typeface="Calibri"/>
                        </a:defRPr>
                      </a:pPr>
                      <a:r>
                        <a:t>95%+</a:t>
                      </a:r>
                    </a:p>
                  </a:txBody>
                  <a:tcPr>
                    <a:solidFill>
                      <a:srgbClr val="1A1A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8888AA"/>
                          </a:solidFill>
                          <a:latin typeface="Calibri"/>
                        </a:defRPr>
                      </a:pPr>
                      <a:r>
                        <a:t>Cost per Inspection</a:t>
                      </a:r>
                    </a:p>
                  </a:txBody>
                  <a:tcPr>
                    <a:solidFill>
                      <a:srgbClr val="1A1A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8888AA"/>
                          </a:solidFill>
                          <a:latin typeface="Calibri"/>
                        </a:defRPr>
                      </a:pPr>
                      <a:r>
                        <a:t>$0.50 – $1.00</a:t>
                      </a:r>
                    </a:p>
                  </a:txBody>
                  <a:tcPr>
                    <a:solidFill>
                      <a:srgbClr val="1A1A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FF88"/>
                          </a:solidFill>
                          <a:latin typeface="Calibri"/>
                        </a:defRPr>
                      </a:pPr>
                      <a:r>
                        <a:t>$0.01 – $0.02</a:t>
                      </a:r>
                    </a:p>
                  </a:txBody>
                  <a:tcPr>
                    <a:solidFill>
                      <a:srgbClr val="1A1A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8888AA"/>
                          </a:solidFill>
                          <a:latin typeface="Calibri"/>
                        </a:defRPr>
                      </a:pPr>
                      <a:r>
                        <a:t>Human Error Rate</a:t>
                      </a:r>
                    </a:p>
                  </a:txBody>
                  <a:tcPr>
                    <a:solidFill>
                      <a:srgbClr val="1A1A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8888AA"/>
                          </a:solidFill>
                          <a:latin typeface="Calibri"/>
                        </a:defRPr>
                      </a:pPr>
                      <a:r>
                        <a:t>20–30%</a:t>
                      </a:r>
                    </a:p>
                  </a:txBody>
                  <a:tcPr>
                    <a:solidFill>
                      <a:srgbClr val="1A1A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FF88"/>
                          </a:solidFill>
                          <a:latin typeface="Calibri"/>
                        </a:defRPr>
                      </a:pPr>
                      <a:r>
                        <a:t>&lt; 5%</a:t>
                      </a:r>
                    </a:p>
                  </a:txBody>
                  <a:tcPr>
                    <a:solidFill>
                      <a:srgbClr val="1A1A2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FF"/>
                </a:solidFill>
                <a:latin typeface="Calibri"/>
              </a:defRPr>
            </a:pPr>
            <a:r>
              <a:t>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914400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What's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383280" cy="320040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6FF"/>
                </a:solidFill>
                <a:latin typeface="Calibri"/>
              </a:defRPr>
            </a:pPr>
            <a:r>
              <a:t>SHORT TERM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6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→  Train custom YOLO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→  Achieve 98%+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→  Offline mode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→  Multi-language (Bengali, English)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03120"/>
            <a:ext cx="3383280" cy="320040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286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6FF"/>
                </a:solidFill>
                <a:latin typeface="Calibri"/>
              </a:defRPr>
            </a:pPr>
            <a:r>
              <a:t>MEDIUM TERM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1–2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→  Cloud deployment (AWS/Firebase)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657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→  Multi-factory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→  Advanced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572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→  ERP integration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103120"/>
            <a:ext cx="3383280" cy="320040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286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6FF"/>
                </a:solidFill>
                <a:latin typeface="Calibri"/>
              </a:defRPr>
            </a:pPr>
            <a:r>
              <a:t>LONG TERM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3–5 Years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→  IoT camera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657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→  3D fabric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→  Global quality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572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→  Made in Bangladesh — for the world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FF"/>
                </a:solidFill>
                <a:latin typeface="Calibri"/>
              </a:defRPr>
            </a:pPr>
            <a:r>
              <a:t>ABOUT THE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914400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Meet the Developer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2560320"/>
            <a:ext cx="1828800" cy="182880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MD. Shahed Rayhan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FF"/>
                </a:solidFill>
                <a:latin typeface="Calibri"/>
              </a:defRPr>
            </a:pPr>
            <a:r>
              <a:t>Computer Science Student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566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7"/>
                </a:solidFill>
                <a:latin typeface="Calibri"/>
              </a:defRPr>
            </a:pPr>
            <a:r>
              <a:t>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7490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North International University (NITER)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9776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7"/>
                </a:solidFill>
                <a:latin typeface="Calibri"/>
              </a:defRPr>
            </a:pPr>
            <a:r>
              <a:t>STUDENT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160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CS 2304023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389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7"/>
                </a:solidFill>
                <a:latin typeface="Calibri"/>
              </a:defRPr>
            </a:pPr>
            <a:r>
              <a:t>LEVEL / 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Level 3, Term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800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7"/>
                </a:solidFill>
                <a:latin typeface="Calibri"/>
              </a:defRPr>
            </a:pPr>
            <a:r>
              <a:t>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983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AI &amp; Software Engineering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029200"/>
            <a:ext cx="2377440" cy="109728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20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4FF"/>
                </a:solidFill>
                <a:latin typeface="Calibri"/>
              </a:defRPr>
            </a:pPr>
            <a:r>
              <a:t>⚛️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  <a:latin typeface="Calibri"/>
              </a:defRPr>
            </a:pPr>
            <a:r>
              <a:t>React Native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5029200"/>
            <a:ext cx="2377440" cy="109728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5120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4FF"/>
                </a:solidFill>
                <a:latin typeface="Calibri"/>
              </a:defRPr>
            </a:pPr>
            <a:r>
              <a:t>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486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5029200"/>
            <a:ext cx="2377440" cy="109728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5120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4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486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  <a:latin typeface="Calibri"/>
              </a:defRPr>
            </a:pPr>
            <a:r>
              <a:t>AI / ML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5029200"/>
            <a:ext cx="2377440" cy="109728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5120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4FF"/>
                </a:solidFill>
                <a:latin typeface="Calibri"/>
              </a:defRPr>
            </a:pPr>
            <a:r>
              <a:t>🗄️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5486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  <a:latin typeface="Calibri"/>
              </a:defRPr>
            </a:pPr>
            <a:r>
              <a:t>Database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00D4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4747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AA"/>
                </a:solidFill>
                <a:latin typeface="Calibri"/>
              </a:defRPr>
            </a:pPr>
            <a:r>
              <a:t>TexVision — AI-Powered Quality Control for Bangladesh's RMG Industry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4389120"/>
            <a:ext cx="2377440" cy="73152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0" y="4434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FF"/>
                </a:solidFill>
                <a:latin typeface="Calibri"/>
              </a:defRPr>
            </a:pPr>
            <a:r>
              <a:t>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434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7"/>
                </a:solidFill>
                <a:latin typeface="Calibri"/>
              </a:defRPr>
            </a:pPr>
            <a:r>
              <a:t>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shahedrayhan23/TexVision2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4389120"/>
            <a:ext cx="2377440" cy="73152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4434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FF"/>
                </a:solidFill>
                <a:latin typeface="Calibri"/>
              </a:defRPr>
            </a:pPr>
            <a:r>
              <a:t>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4434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7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shahedrayhan23@gmail.com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4389120"/>
            <a:ext cx="2377440" cy="731520"/>
          </a:xfrm>
          <a:prstGeom prst="roundRect">
            <a:avLst/>
          </a:prstGeom>
          <a:solidFill>
            <a:srgbClr val="1A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4434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FF"/>
                </a:solidFill>
                <a:latin typeface="Calibri"/>
              </a:defRPr>
            </a:pPr>
            <a:r>
              <a:t>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434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7"/>
                </a:solidFill>
                <a:latin typeface="Calibri"/>
              </a:defRPr>
            </a:pPr>
            <a:r>
              <a:t>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NITER — CS 2304023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6692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77"/>
                </a:solidFill>
                <a:latin typeface="Calibri"/>
              </a:defRPr>
            </a:pPr>
            <a:r>
              <a:t>NITER INNOVATE HACKATHON 2026  —  MADE WITH ❤️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